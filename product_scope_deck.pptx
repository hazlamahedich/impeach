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1658600" cy="6562725" type="screen4x3"/>
  <p:notesSz cx="6858000" cy="9144000"/>
  <p:embeddedFontLst>
    <p:embeddedFont>
      <p:font typeface="Plus Jakarta Sans"/>
      <p:regular r:id="rId16"/>
      <p:bold r:id="rId17"/>
    </p:embeddedFont>
    <p:embeddedFont>
      <p:font typeface="Plus Jakarta Sans 400"/>
      <p:regular r:id="rId18"/>
    </p:embeddedFont>
    <p:embeddedFont>
      <p:font typeface="Plus Jakarta Sans 500"/>
      <p:regular r:id="rId19"/>
    </p:embeddedFont>
    <p:embeddedFont>
      <p:font typeface="Plus Jakarta Sans 600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414736"/>
            <a:ext cx="2985194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AI-POWERED INVESTIGATIVE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66739"/>
            <a:ext cx="102870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Impeachment Intelligence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33489"/>
            <a:ext cx="10287000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Transform impeachment documents, hearings, statements, court records, and media coverage into an interactive knowledge graph with natural language querying.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68205" y="1976586"/>
            <a:ext cx="1322189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ctr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PRODUCT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52389"/>
            <a:ext cx="10744200" cy="704850"/>
          </a:xfrm>
          <a:prstGeom prst="roundRect">
            <a:avLst>
              <a:gd name="adj" fmla="val 1081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Create the most comprehensive, explainable, and evidence-backed political intelligence platform in the Philippines.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62039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85864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Continuous Document 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8900" y="3462039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900" y="3585864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Knowledge Graph Construction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3462039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681114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Natural Language Q&amp;A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72300" y="3462039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2300" y="3585864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Interactive Graph Exploration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3462039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681114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Timeline Reconstruction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81164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00239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Evidence Mapping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8900" y="4081164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8900" y="4204989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Senator Intelligence Dashboards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4081164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4300239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Narrative Generation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72300" y="4081164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2300" y="4300239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Contradiction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4081164"/>
            <a:ext cx="2057400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300239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Media Comparison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3462039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28900" y="3462039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00600" y="3462039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72300" y="3462039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3462039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" y="4081164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28900" y="4081164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00600" y="4081164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72300" y="4081164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4081164"/>
            <a:ext cx="20574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47750"/>
            <a:ext cx="10744200" cy="2038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47750"/>
            <a:ext cx="3419921" cy="2038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47750"/>
            <a:ext cx="3419921" cy="1524000"/>
          </a:xfrm>
          <a:prstGeom prst="roundRect">
            <a:avLst>
              <a:gd name="adj" fmla="val 5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Government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House of Representatives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Senate of the Philippines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Supreme Court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Official Gazette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7621" y="1047750"/>
            <a:ext cx="3419921" cy="2038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67621" y="1047750"/>
            <a:ext cx="3419921" cy="2038350"/>
          </a:xfrm>
          <a:prstGeom prst="roundRect">
            <a:avLst>
              <a:gd name="adj" fmla="val 3738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Media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Reuters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GMA News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ABS-CBN News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Rappler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Philstar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PNA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8042" y="1047750"/>
            <a:ext cx="3523505" cy="2038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78042" y="1047750"/>
            <a:ext cx="3523505" cy="1524000"/>
          </a:xfrm>
          <a:prstGeom prst="roundRect">
            <a:avLst>
              <a:gd name="adj" fmla="val 5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Other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PDFs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Press Releases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Hearing Transcripts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Public Statements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52800"/>
            <a:ext cx="1510754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INGESTION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90503"/>
            <a:ext cx="10744200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Sources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→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Firecrawl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→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Document Store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→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Entity Extraction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→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Relationship Extraction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→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Graph Builder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→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Graphify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→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Query Layer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→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AI Agents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→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Frontend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Knowledge Graph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47750"/>
            <a:ext cx="10744200" cy="5057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47750"/>
            <a:ext cx="4991100" cy="5057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47750"/>
            <a:ext cx="1000125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NODE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5453"/>
            <a:ext cx="245745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480" y="1637853"/>
            <a:ext cx="18707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480" y="1923603"/>
            <a:ext cx="187076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Politicians, Senators, Witnesses, Lawyers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37853"/>
            <a:ext cx="167580" cy="1675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90850" y="1485453"/>
            <a:ext cx="245745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5130" y="1637853"/>
            <a:ext cx="18707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5130" y="1923603"/>
            <a:ext cx="187076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Senate, House, OVP, Government Agencies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1637853"/>
            <a:ext cx="167580" cy="1675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7200" y="2609403"/>
            <a:ext cx="245745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480" y="2761803"/>
            <a:ext cx="18707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480" y="3047553"/>
            <a:ext cx="187076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Hearings, Votes, Filings, Court Decisions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761803"/>
            <a:ext cx="167580" cy="1675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990850" y="2609403"/>
            <a:ext cx="245745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5130" y="2761803"/>
            <a:ext cx="18707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5130" y="3047553"/>
            <a:ext cx="187076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Articles of Impeachment, Reports, Court Rulings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2761803"/>
            <a:ext cx="167580" cy="1675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57200" y="3733353"/>
            <a:ext cx="245745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480" y="3885753"/>
            <a:ext cx="18707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Claim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480" y="4171503"/>
            <a:ext cx="187076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Allegations, Counterclaims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885753"/>
            <a:ext cx="167580" cy="16758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990850" y="3733353"/>
            <a:ext cx="245745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5130" y="3885753"/>
            <a:ext cx="18707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5130" y="4171503"/>
            <a:ext cx="187076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Reports, Testimony, Financial Records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3250" y="3885753"/>
            <a:ext cx="167580" cy="1675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753100" y="1047750"/>
            <a:ext cx="5448300" cy="5057775"/>
          </a:xfrm>
          <a:prstGeom prst="rect">
            <a:avLst/>
          </a:prstGeom>
          <a:solidFill>
            <a:srgbClr val="8C75D1">
              <a:alpha val="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81700" y="1276350"/>
            <a:ext cx="1558379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RELATIONSHIP TYPES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1700" y="1752153"/>
            <a:ext cx="4991100" cy="1028700"/>
          </a:xfrm>
          <a:prstGeom prst="roundRect">
            <a:avLst>
              <a:gd name="adj" fmla="val 7407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FILED · VOTED_FOR · VOTED_AGAINST
SUPPORTED · OPPOSED · TESTIFIED_IN
PARTICIPATED_IN · REFERENCED
RESULTED_IN · SUPPORTED_BY · REFUTED_BY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10744200" cy="56483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2653307" cy="5648325"/>
          </a:xfrm>
          <a:prstGeom prst="rect">
            <a:avLst/>
          </a:prstGeom>
          <a:solidFill>
            <a:srgbClr val="8C75D1">
              <a:alpha val="1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685800"/>
            <a:ext cx="2196107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ctr">
              <a:lnSpc>
                <a:spcPts val="3600"/>
              </a:lnSpc>
            </a:pPr>
            <a:r>
              <a:rPr sz="3600" spc="-108">
                <a:solidFill>
                  <a:srgbClr val="3D3D3D"/>
                </a:solidFill>
                <a:latin typeface="Plus Jakarta Sans 400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76350"/>
            <a:ext cx="2196107" cy="704850"/>
          </a:xfrm>
          <a:prstGeom prst="roundRect">
            <a:avLst>
              <a:gd name="adj" fmla="val 1081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ctr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Agent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33600"/>
            <a:ext cx="2196107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wrap="square" tIns="0" rIns="0" bIns="0" lIns="0"/>
          <a:lstStyle/>
          <a:p>
            <a:pPr algn="ctr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Specialized AI agents working in concert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2907" y="457200"/>
            <a:ext cx="4591794" cy="56483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62907" y="457200"/>
            <a:ext cx="4591794" cy="278755"/>
          </a:xfrm>
          <a:prstGeom prst="roundRect">
            <a:avLst>
              <a:gd name="adj" fmla="val 2733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The 7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2907" y="850255"/>
            <a:ext cx="4591794" cy="670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2907" y="866328"/>
            <a:ext cx="4591794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 b="1">
                <a:solidFill>
                  <a:srgbClr val="3D3D3D"/>
                </a:solidFill>
                <a:latin typeface="Plus Jakarta Sans 500"/>
              </a:rPr>
              <a:t>Collector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2907" y="1152078"/>
            <a:ext cx="4591794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URL Discovery · RSS Monitoring · PDF Collection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2907" y="1635025"/>
            <a:ext cx="4591794" cy="670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2907" y="1651099"/>
            <a:ext cx="4591794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 b="1">
                <a:solidFill>
                  <a:srgbClr val="3D3D3D"/>
                </a:solidFill>
                <a:latin typeface="Plus Jakarta Sans 500"/>
              </a:rPr>
              <a:t>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2907" y="1936849"/>
            <a:ext cx="4591794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Entity Extraction · Claim Detection · Relationship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2907" y="2419796"/>
            <a:ext cx="4591794" cy="670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2907" y="2435869"/>
            <a:ext cx="4591794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 b="1">
                <a:solidFill>
                  <a:srgbClr val="3D3D3D"/>
                </a:solidFill>
                <a:latin typeface="Plus Jakarta Sans 500"/>
              </a:rPr>
              <a:t>Graph 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2907" y="2721619"/>
            <a:ext cx="4591794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Node Creation · Edge Creation · Deduplication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2907" y="3204567"/>
            <a:ext cx="4591794" cy="670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2907" y="3220640"/>
            <a:ext cx="4591794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 b="1">
                <a:solidFill>
                  <a:srgbClr val="3D3D3D"/>
                </a:solidFill>
                <a:latin typeface="Plus Jakarta Sans 500"/>
              </a:rPr>
              <a:t>Timeline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2907" y="3506390"/>
            <a:ext cx="4591794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Event Extraction · Timeline Creation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2907" y="3989337"/>
            <a:ext cx="4591794" cy="670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2907" y="4005411"/>
            <a:ext cx="4591794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 b="1">
                <a:solidFill>
                  <a:srgbClr val="3D3D3D"/>
                </a:solidFill>
                <a:latin typeface="Plus Jakarta Sans 500"/>
              </a:rPr>
              <a:t>Fact Checker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2907" y="4291161"/>
            <a:ext cx="4591794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Source Validation · Contradiction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2907" y="4774108"/>
            <a:ext cx="4591794" cy="670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2907" y="4790182"/>
            <a:ext cx="4591794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 b="1">
                <a:solidFill>
                  <a:srgbClr val="3D3D3D"/>
                </a:solidFill>
                <a:latin typeface="Plus Jakarta Sans 500"/>
              </a:rPr>
              <a:t>Narrative Builder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2907" y="5075932"/>
            <a:ext cx="4591794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Story Generation · Context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62907" y="5558879"/>
            <a:ext cx="4591794" cy="5466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2907" y="5574952"/>
            <a:ext cx="4591794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 b="1">
                <a:solidFill>
                  <a:srgbClr val="3D3D3D"/>
                </a:solidFill>
                <a:latin typeface="Plus Jakarta Sans 500"/>
              </a:rPr>
              <a:t>Query Planner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2907" y="5860702"/>
            <a:ext cx="4591794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User Intent Detection · Retrieval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7101" y="457200"/>
            <a:ext cx="3194298" cy="56483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07101" y="457200"/>
            <a:ext cx="3194298" cy="278755"/>
          </a:xfrm>
          <a:prstGeom prst="roundRect">
            <a:avLst>
              <a:gd name="adj" fmla="val 2733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RAG Architecture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7101" y="850255"/>
            <a:ext cx="3194298" cy="875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350001" y="850255"/>
            <a:ext cx="0" cy="875853"/>
          </a:xfrm>
          <a:prstGeom prst="line">
            <a:avLst/>
          </a:prstGeom>
          <a:ln w="12700">
            <a:solidFill>
              <a:srgbClr val="3D3D3D">
                <a:alpha val="63921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11926" y="850255"/>
            <a:ext cx="2689473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User Question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7101" y="1726108"/>
            <a:ext cx="3194298" cy="875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350001" y="1726108"/>
            <a:ext cx="0" cy="875854"/>
          </a:xfrm>
          <a:prstGeom prst="line">
            <a:avLst/>
          </a:prstGeom>
          <a:ln w="12700">
            <a:solidFill>
              <a:srgbClr val="3D3D3D">
                <a:alpha val="63921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511926" y="1726108"/>
            <a:ext cx="2689473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Intent Detection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7101" y="2601962"/>
            <a:ext cx="3194298" cy="875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8350001" y="2601962"/>
            <a:ext cx="0" cy="875853"/>
          </a:xfrm>
          <a:prstGeom prst="line">
            <a:avLst/>
          </a:prstGeom>
          <a:ln w="12700">
            <a:solidFill>
              <a:srgbClr val="3D3D3D">
                <a:alpha val="63921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11926" y="2601962"/>
            <a:ext cx="2689473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Graph + Vector Search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7101" y="3477815"/>
            <a:ext cx="3194298" cy="875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350001" y="3477815"/>
            <a:ext cx="0" cy="875854"/>
          </a:xfrm>
          <a:prstGeom prst="line">
            <a:avLst/>
          </a:prstGeom>
          <a:ln w="12700">
            <a:solidFill>
              <a:srgbClr val="3D3D3D">
                <a:alpha val="63921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511926" y="3477815"/>
            <a:ext cx="2689473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Evidence Aggregation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7101" y="4353669"/>
            <a:ext cx="3194298" cy="875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8350001" y="4353669"/>
            <a:ext cx="0" cy="875853"/>
          </a:xfrm>
          <a:prstGeom prst="line">
            <a:avLst/>
          </a:prstGeom>
          <a:ln w="12700">
            <a:solidFill>
              <a:srgbClr val="3D3D3D">
                <a:alpha val="63921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511926" y="4353669"/>
            <a:ext cx="2689473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Citation Engine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7101" y="5229522"/>
            <a:ext cx="3194298" cy="875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8350001" y="5229522"/>
            <a:ext cx="0" cy="875854"/>
          </a:xfrm>
          <a:prstGeom prst="line">
            <a:avLst/>
          </a:prstGeom>
          <a:ln w="12700">
            <a:solidFill>
              <a:srgbClr val="3D3D3D">
                <a:alpha val="63921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11926" y="5229522"/>
            <a:ext cx="2689473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Answer Generation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262907" y="1520725"/>
            <a:ext cx="459179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62907" y="2305496"/>
            <a:ext cx="459179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62907" y="3090267"/>
            <a:ext cx="459179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262907" y="3875037"/>
            <a:ext cx="459179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262907" y="4659808"/>
            <a:ext cx="459179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262907" y="5444579"/>
            <a:ext cx="459179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User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85850"/>
            <a:ext cx="5314950" cy="14509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080" y="1492150"/>
            <a:ext cx="50330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Interactive Knowledge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080" y="1777900"/>
            <a:ext cx="503306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Search nodes, expand relationships, multi-hop traversal, filter entities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5535"/>
            <a:ext cx="167580" cy="1675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86450" y="1085850"/>
            <a:ext cx="5314950" cy="14509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8330" y="1377850"/>
            <a:ext cx="50330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Natural Language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8330" y="1663600"/>
            <a:ext cx="503306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Ask questions like: What allegations exist? Which senators supported impeachment?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1665535"/>
            <a:ext cx="167580" cy="1675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2651075"/>
            <a:ext cx="5314950" cy="14509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080" y="3057376"/>
            <a:ext cx="50330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Timeline Explorer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080" y="3343126"/>
            <a:ext cx="503306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Daily, weekly, monthly, and yearly views of events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30760"/>
            <a:ext cx="167580" cy="1675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886450" y="2651075"/>
            <a:ext cx="5314950" cy="14509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8330" y="2943076"/>
            <a:ext cx="50330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Evidence Explorer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8330" y="3228826"/>
            <a:ext cx="503306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Source tracking, evidence confidence scoring, contradiction detection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3230760"/>
            <a:ext cx="167580" cy="16758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57200" y="4216300"/>
            <a:ext cx="5314950" cy="10986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080" y="4508450"/>
            <a:ext cx="50330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Senator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80" y="4794200"/>
            <a:ext cx="503306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Statements, votes, timeline, and participation history per senator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681835"/>
            <a:ext cx="167580" cy="1675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886450" y="4216300"/>
            <a:ext cx="5314950" cy="10986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8330" y="4508450"/>
            <a:ext cx="503306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Narrative Explorer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8330" y="4794200"/>
            <a:ext cx="503306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Generate structured story summaries from the underlying data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450" y="4681835"/>
            <a:ext cx="167580" cy="1675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57200" y="5467350"/>
            <a:ext cx="10744200" cy="6381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9080" y="5467350"/>
            <a:ext cx="1046231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Media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080" y="5753100"/>
            <a:ext cx="1046231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Compare facts and framing across outlets side by side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640734"/>
            <a:ext cx="167580" cy="167580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>
            <a:off x="457200" y="2536775"/>
            <a:ext cx="531495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86450" y="2536775"/>
            <a:ext cx="531495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" y="4102000"/>
            <a:ext cx="531495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86450" y="4102000"/>
            <a:ext cx="531495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7200" y="6105525"/>
            <a:ext cx="107442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MVP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23950"/>
            <a:ext cx="10744200" cy="49815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23950"/>
            <a:ext cx="3426767" cy="4981575"/>
          </a:xfrm>
          <a:prstGeom prst="rect">
            <a:avLst/>
          </a:prstGeom>
          <a:solidFill>
            <a:srgbClr val="8C75D1">
              <a:alpha val="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" y="1466850"/>
            <a:ext cx="2740967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3600"/>
              </a:lnSpc>
            </a:pPr>
            <a:r>
              <a:rPr sz="3600" spc="-108">
                <a:solidFill>
                  <a:srgbClr val="3D3D3D"/>
                </a:solidFill>
                <a:latin typeface="Plus Jakarta Sans 400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057400"/>
            <a:ext cx="2740967" cy="278755"/>
          </a:xfrm>
          <a:prstGeom prst="roundRect">
            <a:avLst>
              <a:gd name="adj" fmla="val 2733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Core 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2526655"/>
            <a:ext cx="2740967" cy="1590675"/>
          </a:xfrm>
          <a:prstGeom prst="roundRect">
            <a:avLst>
              <a:gd name="adj" fmla="val 479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/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Firecrawl ingestion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Entity extraction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Graphify integration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Natural language chat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74467" y="1123950"/>
            <a:ext cx="3426767" cy="4981575"/>
          </a:xfrm>
          <a:prstGeom prst="rect">
            <a:avLst/>
          </a:prstGeom>
          <a:solidFill>
            <a:srgbClr val="70C7B8">
              <a:alpha val="1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7367" y="1466850"/>
            <a:ext cx="2740967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3600"/>
              </a:lnSpc>
            </a:pPr>
            <a:r>
              <a:rPr sz="3600" spc="-108">
                <a:solidFill>
                  <a:srgbClr val="3D3D3D"/>
                </a:solidFill>
                <a:latin typeface="Plus Jakarta Sans 400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7367" y="2057400"/>
            <a:ext cx="2740967" cy="278755"/>
          </a:xfrm>
          <a:prstGeom prst="roundRect">
            <a:avLst>
              <a:gd name="adj" fmla="val 2733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Intelligence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7367" y="2526655"/>
            <a:ext cx="2740967" cy="1076325"/>
          </a:xfrm>
          <a:prstGeom prst="roundRect">
            <a:avLst>
              <a:gd name="adj" fmla="val 707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/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Narrative explorer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Senator dashboard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Media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1735" y="1123950"/>
            <a:ext cx="3509813" cy="4981575"/>
          </a:xfrm>
          <a:prstGeom prst="rect">
            <a:avLst/>
          </a:prstGeom>
          <a:solidFill>
            <a:srgbClr val="DFB63A">
              <a:alpha val="1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34635" y="1466850"/>
            <a:ext cx="2824013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3600"/>
              </a:lnSpc>
            </a:pPr>
            <a:r>
              <a:rPr sz="3600" spc="-108">
                <a:solidFill>
                  <a:srgbClr val="3D3D3D"/>
                </a:solidFill>
                <a:latin typeface="Plus Jakarta Sans 400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635" y="2057400"/>
            <a:ext cx="2824013" cy="278755"/>
          </a:xfrm>
          <a:prstGeom prst="roundRect">
            <a:avLst>
              <a:gd name="adj" fmla="val 2733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Advanced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635" y="2526655"/>
            <a:ext cx="2824013" cy="1076325"/>
          </a:xfrm>
          <a:prstGeom prst="roundRect">
            <a:avLst>
              <a:gd name="adj" fmla="val 707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/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Contradiction engine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AI witnesses</a:t>
            </a:r>
          </a:p>
          <a:p>
            <a:pPr lvl="1" marL="228600" indent="-228600" algn="l">
              <a:lnSpc>
                <a:spcPts val="2025"/>
              </a:lnSpc>
              <a:buChar char="•"/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Influence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ctr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85850"/>
            <a:ext cx="2457450" cy="50196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8630" y="3252936"/>
            <a:ext cx="1236464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ctr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QUERY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81089"/>
            <a:ext cx="22193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spc="-108">
                <a:solidFill>
                  <a:srgbClr val="3D3D3D"/>
                </a:solidFill>
                <a:latin typeface="Plus Jakarta Sans 400"/>
              </a:rPr>
              <a:t>&gt;</a:t>
            </a:r>
            <a:r>
              <a:rPr sz="3600" spc="-108">
                <a:solidFill>
                  <a:srgbClr val="3D3D3D"/>
                </a:solidFill>
                <a:latin typeface="Plus Jakarta Sans 400"/>
              </a:rPr>
              <a:t>90%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9450" y="1085850"/>
            <a:ext cx="2457450" cy="50196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6140" y="3252936"/>
            <a:ext cx="1365944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ctr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CITATION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9450" y="3481089"/>
            <a:ext cx="22193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spc="-108">
                <a:solidFill>
                  <a:srgbClr val="3D3D3D"/>
                </a:solidFill>
                <a:latin typeface="Plus Jakarta Sans 400"/>
              </a:rPr>
              <a:t>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1700" y="1085850"/>
            <a:ext cx="2457450" cy="50196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3612" y="3252936"/>
            <a:ext cx="2095500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ctr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GRAPH EXTRACTION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1700" y="3481089"/>
            <a:ext cx="22193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spc="-108">
                <a:solidFill>
                  <a:srgbClr val="3D3D3D"/>
                </a:solidFill>
                <a:latin typeface="Plus Jakarta Sans 400"/>
              </a:rPr>
              <a:t>&gt;</a:t>
            </a:r>
            <a:r>
              <a:rPr sz="3600" spc="-108">
                <a:solidFill>
                  <a:srgbClr val="3D3D3D"/>
                </a:solidFill>
                <a:latin typeface="Plus Jakarta Sans 400"/>
              </a:rPr>
              <a:t>85%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3950" y="1085850"/>
            <a:ext cx="2457450" cy="50196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4373" y="3252936"/>
            <a:ext cx="1396454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ctr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AVG. RESPONSE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3950" y="3481089"/>
            <a:ext cx="245745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spc="-108">
                <a:solidFill>
                  <a:srgbClr val="3D3D3D"/>
                </a:solidFill>
                <a:latin typeface="Plus Jakarta Sans 400"/>
              </a:rPr>
              <a:t>&lt; 10s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14650" y="1085850"/>
            <a:ext cx="0" cy="5019675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76900" y="1085850"/>
            <a:ext cx="0" cy="5019675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39150" y="1085850"/>
            <a:ext cx="0" cy="5019675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57561"/>
            <a:ext cx="1478309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LONG-TERM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95264"/>
            <a:ext cx="10744200" cy="1047750"/>
          </a:xfrm>
          <a:prstGeom prst="roundRect">
            <a:avLst>
              <a:gd name="adj" fmla="val 727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Evolve into a Political Intelligence Operating System — ingesting any major Philippine controversy, investigation, or corruption case and generating a </a:t>
            </a:r>
            <a:r>
              <a:rPr sz="2400" spc="-96" b="1">
                <a:solidFill>
                  <a:srgbClr val="3D3D3D"/>
                </a:solidFill>
                <a:latin typeface="Plus Jakarta Sans 400"/>
              </a:rPr>
              <a:t>searchable, explainable intelligence graph</a:t>
            </a:r>
            <a:r>
              <a:rPr sz="2400" spc="-96">
                <a:solidFill>
                  <a:srgbClr val="3D3D3D"/>
                </a:solidFill>
                <a:latin typeface="Plus Jakarta Sans 400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09714"/>
            <a:ext cx="26289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480" y="4062114"/>
            <a:ext cx="204221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AI Debate Simulator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73574"/>
            <a:ext cx="167580" cy="1675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162300" y="3909714"/>
            <a:ext cx="26289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6580" y="4062114"/>
            <a:ext cx="204221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Political Influence Analytics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4073574"/>
            <a:ext cx="167580" cy="1675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67400" y="3909714"/>
            <a:ext cx="26289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1680" y="4062114"/>
            <a:ext cx="204221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Multi-Case Support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4073574"/>
            <a:ext cx="167580" cy="1675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72500" y="3909714"/>
            <a:ext cx="26289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780" y="4062114"/>
            <a:ext cx="204221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Real-Time Monitoring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900" y="4073574"/>
            <a:ext cx="167580" cy="167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